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66" r:id="rId15"/>
    <p:sldId id="267" r:id="rId16"/>
    <p:sldId id="272" r:id="rId17"/>
    <p:sldId id="275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41CFB-1971-4ED0-AF82-FCAC591ED312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E31A2-991B-4AC5-AB9F-9F8B9949257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E31A2-991B-4AC5-AB9F-9F8B9949257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285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E31A2-991B-4AC5-AB9F-9F8B9949257C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0439-041E-469E-AFA6-861DC2166353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12CC-49AD-4E2C-A251-0C057CB30C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0439-041E-469E-AFA6-861DC2166353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12CC-49AD-4E2C-A251-0C057CB30C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0439-041E-469E-AFA6-861DC2166353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12CC-49AD-4E2C-A251-0C057CB30C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0439-041E-469E-AFA6-861DC2166353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12CC-49AD-4E2C-A251-0C057CB30C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0439-041E-469E-AFA6-861DC2166353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12CC-49AD-4E2C-A251-0C057CB30C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0439-041E-469E-AFA6-861DC2166353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12CC-49AD-4E2C-A251-0C057CB30C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0439-041E-469E-AFA6-861DC2166353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12CC-49AD-4E2C-A251-0C057CB30C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0439-041E-469E-AFA6-861DC2166353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12CC-49AD-4E2C-A251-0C057CB30C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0439-041E-469E-AFA6-861DC2166353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12CC-49AD-4E2C-A251-0C057CB30C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0439-041E-469E-AFA6-861DC2166353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12CC-49AD-4E2C-A251-0C057CB30C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0439-041E-469E-AFA6-861DC2166353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12CC-49AD-4E2C-A251-0C057CB30C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00439-041E-469E-AFA6-861DC2166353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F12CC-49AD-4E2C-A251-0C057CB30C5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USING GAUSSIAN MIXTURE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21677" y="4329625"/>
            <a:ext cx="4522839" cy="1655762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G.VEDA SAHEETHI – 228R1A6688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HANSIKA – 228R1A6691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K.THANUSHA – 228R1A6699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T.SHIVANI – 228R1A66C4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50C897-18D0-D025-03DC-6C6490961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7695"/>
            <a:ext cx="10515600" cy="30105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 project involves applying a machine learning technique called Gaussian Mixture Models (GMM) to segment customers based on behavioral data.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identify distinct customer profiles to help businesses optimize their marketing strategies and improve customer experiences.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GMM helps identify distinct customer profiles using a probabilistic approach.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clustering, GMM allows soft clustering, meaning each customer can belong to multiple clusters with certain probabilities.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segments can be used by businesses to optimize marketing strategies and create more personalized customer experiences.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data-driven segmentation can support smarter business decisions.</a:t>
            </a:r>
          </a:p>
          <a:p>
            <a:pPr marL="0" indent="0">
              <a:buNone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2051"/>
            <a:ext cx="10515600" cy="51249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highly competitive market, understanding customer behavior is essential for business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segmentation methods like manual grouping or basic clustering (e.g.,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have limitations: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assume clear boundaries between groups.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struggle with complex, overlapping data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may lead to inaccurate segmentation and less effective marketing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Mixture Models (GMM) provide a probabilistic clustering approach: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Capable of identifying overlapping clusters.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modeling complex, real-world customer data distributions.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more flexible and accurate segmentation techniques to improve business decision-making.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9368"/>
            <a:ext cx="10515600" cy="496759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preprocess customer data from a reliable dataset (Marketing Campaign).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Gaussian Mixture Models (GMM) for performing customer segmentation.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optimal number of clusters using statistical criteria like AIC (Akaike Information Criterion) and BIC (Bayesian Information Criterion) and Silhouette Score.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the identified customer segments using dimensionality reduction (PCA).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interpret the characteristics of each segment for actionable business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businesses target customers more effectively and enhance marketing strategies.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6013"/>
            <a:ext cx="10515600" cy="4770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Design: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045" y="2020570"/>
            <a:ext cx="2419985" cy="11106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 (Marketing_campaign.csv)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57369" y="1894666"/>
            <a:ext cx="2399071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 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Drop unneeded cols  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Handle missing data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Feature scaling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76538" y="2004681"/>
            <a:ext cx="2399071" cy="10987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Mixture Model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Fit model           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Predict clusters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94089" y="4519792"/>
            <a:ext cx="1998408" cy="1335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(PCA for visualization)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6703" y="4572000"/>
            <a:ext cx="2317956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    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Visualize segments    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Label clusters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99535" y="4581832"/>
            <a:ext cx="219997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 &amp;     Recommendations </a:t>
            </a:r>
          </a:p>
        </p:txBody>
      </p:sp>
      <p:cxnSp>
        <p:nvCxnSpPr>
          <p:cNvPr id="12" name="Straight Arrow Connector 11"/>
          <p:cNvCxnSpPr>
            <a:stCxn id="4" idx="3"/>
            <a:endCxn id="5" idx="1"/>
          </p:cNvCxnSpPr>
          <p:nvPr/>
        </p:nvCxnSpPr>
        <p:spPr>
          <a:xfrm flipV="1">
            <a:off x="3288300" y="2557522"/>
            <a:ext cx="969645" cy="18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3"/>
            <a:endCxn id="6" idx="1"/>
          </p:cNvCxnSpPr>
          <p:nvPr/>
        </p:nvCxnSpPr>
        <p:spPr>
          <a:xfrm flipV="1">
            <a:off x="6656440" y="2554045"/>
            <a:ext cx="1020098" cy="3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3"/>
          </p:cNvCxnSpPr>
          <p:nvPr/>
        </p:nvCxnSpPr>
        <p:spPr>
          <a:xfrm>
            <a:off x="10075609" y="2554045"/>
            <a:ext cx="7005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0795819" y="2575937"/>
            <a:ext cx="0" cy="1215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8792497" y="4876800"/>
            <a:ext cx="727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6174659" y="4945626"/>
            <a:ext cx="6194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399505" y="4876800"/>
            <a:ext cx="4571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411927" y="3834581"/>
            <a:ext cx="2694030" cy="14748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Cluster Selection  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Use AIC/BIC criteria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15181" y="941295"/>
            <a:ext cx="9446342" cy="576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— Chosen for its simplicity, readability, and powerful ecosystem of machine learning libraries.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&amp; Frameworks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pandas: For loading the dataset, handling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performing data preprocessing.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2.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numerical operations and array manipulation.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3. matplotlib &amp; seaborn: For creating informative visualizations like cluster plots and AIC/BIC curves.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4. scikit-learn: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implementing Gaussian Mixture Models (GMM) for clustering.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used for preprocessing (e.g.,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dimensionality reduction (PCA).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Environments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Cloud-based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 used for running the project without local setup, with GPU/TPU support if needed.</a:t>
            </a:r>
          </a:p>
          <a:p>
            <a:pPr marL="457200" lvl="1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881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916" y="1372931"/>
            <a:ext cx="10586883" cy="4351338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Key Modules and Functionalities: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34845" y="1687354"/>
            <a:ext cx="7066935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and Preprocessing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Loaded the Mall Customer Segmentation Dataset using pandas.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(if any) to ensure data quality.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 key features such as: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Annual Income (k$)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Spending Score (1–100)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(Optional: Age)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the data using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optimal model p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Model Training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Gaussian Mixture Models (GMM) from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sklearn.mixture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Explored multiple values of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n_components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(i.e., number of clusters).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the Expectation-Maximization (EM) algorithm internally to: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Estimate the parameters of Gaussian distributions.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 probabilities of data points belonging to each cluster.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63561"/>
            <a:ext cx="10515600" cy="5213402"/>
          </a:xfrm>
        </p:spPr>
        <p:txBody>
          <a:bodyPr/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Model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model performance for various cluster sizes using: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Akaike Information Criterion (AIC)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Bayesian Information Criterion (BIC)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 the model with the lowest AIC/BIC scores as the optimal clustering solution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Screenshots of Developed Components: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279" y="3281517"/>
            <a:ext cx="4510548" cy="33174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76" y="1339583"/>
            <a:ext cx="6041953" cy="444573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966" y="1398390"/>
            <a:ext cx="5463158" cy="40612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4568" y="5232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7549" y="5058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Space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04567" y="630564"/>
            <a:ext cx="100190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 and BIC scores plotted against the number of components to select the best-fitting GMM model.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26" y="1184350"/>
            <a:ext cx="10835148" cy="53117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570271"/>
            <a:ext cx="10744200" cy="5850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Code Snippet: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55" y="1007806"/>
            <a:ext cx="9350477" cy="54834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80" y="728913"/>
            <a:ext cx="6255356" cy="3160687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379" y="4218038"/>
            <a:ext cx="6453387" cy="2251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765" y="1412669"/>
            <a:ext cx="6069284" cy="4351338"/>
          </a:xfr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51" y="1943339"/>
            <a:ext cx="5406776" cy="25500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50606"/>
            <a:ext cx="10515600" cy="5626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 Results: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574" y="1242184"/>
            <a:ext cx="8618851" cy="50652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0624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Execution and Testing: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16858" y="1032319"/>
            <a:ext cx="7588045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Execution Flow: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16858" y="1447766"/>
            <a:ext cx="6224781" cy="447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necessary libraries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the customer dataset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preprocess the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PCA for visualization (optional)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 GMM with cluster numbers from 2 to 10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AIC, BIC, and Silhouette scores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 AIC/BIC and Silhouette Score vs. number of clusters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the best number of clusters (based on Silhouette or BIC)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 final GMM using the best number of clusters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clusters and assign them to each customer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clusters in PCA 2D space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Profile clusters using group-by and summary statistics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70271"/>
            <a:ext cx="10515600" cy="5478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Testing Strategies: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30565" y="1163495"/>
            <a:ext cx="9894203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- Individual components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PCA reduces dimensions correctly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GMM returns expected number of clusters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Integration Testing - Combined modules</a:t>
            </a:r>
          </a:p>
          <a:p>
            <a:pPr>
              <a:buNone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scaler → PCA → GMM pipeline works end-to-end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silhouette score computes correctly after clustering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System Testing - full pipeline on dataset</a:t>
            </a:r>
          </a:p>
          <a:p>
            <a:pPr>
              <a:buNone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preprocess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GMM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successful cluster assignment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plots and cluster profiling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6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6051650"/>
              </p:ext>
            </p:extLst>
          </p:nvPr>
        </p:nvGraphicFramePr>
        <p:xfrm>
          <a:off x="553065" y="157317"/>
          <a:ext cx="11235814" cy="67006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8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8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07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4110">
                <a:tc>
                  <a:txBody>
                    <a:bodyPr/>
                    <a:lstStyle/>
                    <a:p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 (If Fails)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11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should load successfully into a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DataFrame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path or format may be incorrect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11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should be cleaned and scaled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values or encoding errors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638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PCA Transformation</a:t>
                      </a:r>
                    </a:p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should reduce to 2D components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PCA might fail if input shape is incorrect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638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GMM Model 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GMM should fit data and assign clusters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Improper number of components or convergence error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11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AIC/BIC/Silhouette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 should be calculated for 2–10 components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Empty clusters or model not converging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411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PCA scatterplot should show clustered customers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Plotting fails if cluster labels are missing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411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 Cluster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cluster count should be selected based on metrics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 not improving may indicate bad input features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411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 customer should be assigned a cluster label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values or label mismatch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00638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 Profiling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statistics per cluster should be generated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DataFrame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grouping might fail if cluster column missing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27243"/>
            <a:ext cx="10515600" cy="470616"/>
          </a:xfrm>
        </p:spPr>
        <p:txBody>
          <a:bodyPr>
            <a:normAutofit fontScale="90000"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Challenges &amp; Solutions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390281"/>
            <a:ext cx="7407541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Issues Faced During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choosing the number of clusters.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Overlapping clusters due to probabilistic nature of GMM.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affected results significantly.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Slow model convergence with high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n_components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They Were Resolved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AIC and BIC values to objectively decide optimal clusters.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Scaled features using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normalize distributions.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Visualized clusters in 2D and 3D to understand overlap.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features using PCA (Principal Component Analysis) for faster computation.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Conclusion &amp; Future Scope: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4921327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segmented customers using Gaussian Mixture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selected based on statistical evaluation (AIC/BIC).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insights into customer types such as high spenders, budget shoppers,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flexibility and effectiveness of GMM over traditional clustering methods.</a:t>
            </a:r>
          </a:p>
          <a:p>
            <a:pPr marL="0" indent="0"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Enhancement:</a:t>
            </a:r>
          </a:p>
          <a:p>
            <a:pPr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GMM to larger and more diverse customer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advanced dimensionality reduction techniques like t-SNE or UMAP.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segmentation with recommendation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clustering in web apps for dynamic user profiling.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model to consider temporal features for time-based segmentation.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144145" marR="179705" algn="just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 "Customer Segmentation Using Machine Learning" by Suresh Kumar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Gorakala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Avinash P. (2018). Explores practical implementations of clustering for segmenting retail customer data.</a:t>
            </a:r>
          </a:p>
          <a:p>
            <a:pPr marL="144145" marR="179705" algn="just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 "A Tutorial on Clustering Algorithms" by Aggarwal and Reddy (2014). Offers an in-depth comparison of clustering techniques, including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KMeans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Gaussian Mixture Models, for unsupervised learning tasks.</a:t>
            </a:r>
          </a:p>
          <a:p>
            <a:pPr marL="144145" marR="179705" algn="just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 "Pattern Recognition and Machine Learning" by Christopher M. Bishop (2006). A foundational text that explains the mathematics behind GMM and EM algorithm in detail.</a:t>
            </a:r>
          </a:p>
          <a:p>
            <a:pPr marL="144145" marR="179705" algn="just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[4] "Customer Segmentation Based on Spending Habits Using GMM" by Ali et al. (2020). Applies Gaussian Mixture Models to e-commerce customer data to identify high-value user segments.</a:t>
            </a:r>
          </a:p>
          <a:p>
            <a:pPr marL="144145" marR="179705" algn="just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[5] "Scikit-learn: Machine Learning in Python" by Pedregosa et al. (2011). Introduces the scikit-learn library, used widely for implementing clustering, dimensionality reduction, and evaluation metrics.</a:t>
            </a:r>
          </a:p>
          <a:p>
            <a:pPr marL="0" marR="179705" indent="0" algn="just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[6] "A Comparative Study of Clustering Techniques for Customer Segmentation" by Jain and Dubes (2015). Compares the performance of different clustering methods including GMM, DBSCAN, and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KMeans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on retail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1515</Words>
  <Application>Microsoft Office PowerPoint</Application>
  <PresentationFormat>Widescreen</PresentationFormat>
  <Paragraphs>226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CUSTOMER SEGMENTATION USING GAUSSIAN MIXTURE MODELS</vt:lpstr>
      <vt:lpstr>Introduction:</vt:lpstr>
      <vt:lpstr>PowerPoint Presentation</vt:lpstr>
      <vt:lpstr>PowerPoint Presentation</vt:lpstr>
      <vt:lpstr> Proposed System Architecture:</vt:lpstr>
      <vt:lpstr>PowerPoint Presentation</vt:lpstr>
      <vt:lpstr>Implementation Details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Execution and Testing:</vt:lpstr>
      <vt:lpstr>PowerPoint Presentation</vt:lpstr>
      <vt:lpstr>PowerPoint Presentation</vt:lpstr>
      <vt:lpstr>5. Challenges &amp; Solutions </vt:lpstr>
      <vt:lpstr>6. Conclusion &amp; Future Scope: </vt:lpstr>
      <vt:lpstr>References: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USING GAUSSIAN MIXTURE MODELS</dc:title>
  <dc:creator>jamedar hansika</dc:creator>
  <cp:lastModifiedBy>jamedar hansika</cp:lastModifiedBy>
  <cp:revision>11</cp:revision>
  <dcterms:created xsi:type="dcterms:W3CDTF">2025-04-20T15:51:00Z</dcterms:created>
  <dcterms:modified xsi:type="dcterms:W3CDTF">2025-06-20T04:40:09Z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35386454162A4047A5C116468EDE2539_13</vt:lpwstr>
  </property>
  <property fmtid="{D5CDD505-2E9C-101B-9397-08002B2CF9AE}" pid="3" name="KSOProductBuildVer">
    <vt:lpwstr>1033-12.2.0.20795</vt:lpwstr>
  </property>
</Properties>
</file>